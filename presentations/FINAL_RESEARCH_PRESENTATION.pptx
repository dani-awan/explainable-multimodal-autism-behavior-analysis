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4a589a886e4369" /><Relationship Type="http://schemas.openxmlformats.org/officeDocument/2006/relationships/extended-properties" Target="/docProps/app.xml" Id="Re20cb6ebdf204242" /><Relationship Type="http://schemas.openxmlformats.org/officeDocument/2006/relationships/officeDocument" Target="/ppt/presentation.xml" Id="R92ef0e1efe2441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d40e4d02914e67"/>
  </p:sldMasterIdLst>
  <p:notesMasterIdLst>
    <p:notesMasterId xmlns:r="http://schemas.openxmlformats.org/officeDocument/2006/relationships" r:id="R39c42a42a5d448b8"/>
  </p:notesMasterIdLst>
  <p:sldIdLst>
    <p:sldId xmlns:r="http://schemas.openxmlformats.org/officeDocument/2006/relationships" id="256" r:id="R094f9d3e27764c80"/>
    <p:sldId xmlns:r="http://schemas.openxmlformats.org/officeDocument/2006/relationships" id="257" r:id="Rafe67b2477a54826"/>
    <p:sldId xmlns:r="http://schemas.openxmlformats.org/officeDocument/2006/relationships" id="258" r:id="Re5df9012ce7a4ce5"/>
    <p:sldId xmlns:r="http://schemas.openxmlformats.org/officeDocument/2006/relationships" id="259" r:id="R783993fcf4074ea5"/>
    <p:sldId xmlns:r="http://schemas.openxmlformats.org/officeDocument/2006/relationships" id="260" r:id="R1c6d2f6e85824d7c"/>
    <p:sldId xmlns:r="http://schemas.openxmlformats.org/officeDocument/2006/relationships" id="261" r:id="R97503d3a7d16407c"/>
    <p:sldId xmlns:r="http://schemas.openxmlformats.org/officeDocument/2006/relationships" id="262" r:id="R3a5065e2a4f44d5d"/>
    <p:sldId xmlns:r="http://schemas.openxmlformats.org/officeDocument/2006/relationships" id="263" r:id="R1392c667fdbc4400"/>
    <p:sldId xmlns:r="http://schemas.openxmlformats.org/officeDocument/2006/relationships" id="264" r:id="Re336de287b1e4998"/>
    <p:sldId xmlns:r="http://schemas.openxmlformats.org/officeDocument/2006/relationships" id="265" r:id="Rb703473fcb0544a7"/>
    <p:sldId xmlns:r="http://schemas.openxmlformats.org/officeDocument/2006/relationships" id="266" r:id="R59de15a69cf84413"/>
    <p:sldId xmlns:r="http://schemas.openxmlformats.org/officeDocument/2006/relationships" id="267" r:id="R2d6ce3604c904c63"/>
    <p:sldId xmlns:r="http://schemas.openxmlformats.org/officeDocument/2006/relationships" id="268" r:id="R6f13453636da4c42"/>
    <p:sldId xmlns:r="http://schemas.openxmlformats.org/officeDocument/2006/relationships" id="269" r:id="R03658586a6814e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eaabe460a949b4" /><Relationship Type="http://schemas.openxmlformats.org/officeDocument/2006/relationships/slideMaster" Target="/ppt/slideMasters/slideMaster1.xml" Id="R1bd40e4d02914e67" /><Relationship Type="http://schemas.openxmlformats.org/officeDocument/2006/relationships/notesMaster" Target="/ppt/notesMasters/notesMaster1.xml" Id="R39c42a42a5d448b8" /><Relationship Type="http://schemas.openxmlformats.org/officeDocument/2006/relationships/presProps" Target="/ppt/presProps.xml" Id="Rf8d0fd549f544563" /><Relationship Type="http://schemas.openxmlformats.org/officeDocument/2006/relationships/tableStyles" Target="/ppt/tableStyles.xml" Id="Rcbe222708bfd4d3d" /><Relationship Type="http://schemas.openxmlformats.org/officeDocument/2006/relationships/slide" Target="/ppt/slides/slide1.xml" Id="R094f9d3e27764c80" /><Relationship Type="http://schemas.openxmlformats.org/officeDocument/2006/relationships/slide" Target="/ppt/slides/slide2.xml" Id="Rafe67b2477a54826" /><Relationship Type="http://schemas.openxmlformats.org/officeDocument/2006/relationships/slide" Target="/ppt/slides/slide3.xml" Id="Re5df9012ce7a4ce5" /><Relationship Type="http://schemas.openxmlformats.org/officeDocument/2006/relationships/slide" Target="/ppt/slides/slide4.xml" Id="R783993fcf4074ea5" /><Relationship Type="http://schemas.openxmlformats.org/officeDocument/2006/relationships/slide" Target="/ppt/slides/slide5.xml" Id="R1c6d2f6e85824d7c" /><Relationship Type="http://schemas.openxmlformats.org/officeDocument/2006/relationships/slide" Target="/ppt/slides/slide6.xml" Id="R97503d3a7d16407c" /><Relationship Type="http://schemas.openxmlformats.org/officeDocument/2006/relationships/slide" Target="/ppt/slides/slide7.xml" Id="R3a5065e2a4f44d5d" /><Relationship Type="http://schemas.openxmlformats.org/officeDocument/2006/relationships/slide" Target="/ppt/slides/slide8.xml" Id="R1392c667fdbc4400" /><Relationship Type="http://schemas.openxmlformats.org/officeDocument/2006/relationships/slide" Target="/ppt/slides/slide9.xml" Id="Re336de287b1e4998" /><Relationship Type="http://schemas.openxmlformats.org/officeDocument/2006/relationships/slide" Target="/ppt/slides/slide10.xml" Id="Rb703473fcb0544a7" /><Relationship Type="http://schemas.openxmlformats.org/officeDocument/2006/relationships/slide" Target="/ppt/slides/slide11.xml" Id="R59de15a69cf84413" /><Relationship Type="http://schemas.openxmlformats.org/officeDocument/2006/relationships/slide" Target="/ppt/slides/slide12.xml" Id="R2d6ce3604c904c63" /><Relationship Type="http://schemas.openxmlformats.org/officeDocument/2006/relationships/slide" Target="/ppt/slides/slide13.xml" Id="R6f13453636da4c42" /><Relationship Type="http://schemas.openxmlformats.org/officeDocument/2006/relationships/slide" Target="/ppt/slides/slide14.xml" Id="R03658586a6814e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6ce01ded6046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c3d03aa3fd4445" /><Relationship Type="http://schemas.openxmlformats.org/officeDocument/2006/relationships/notesMaster" Target="/ppt/notesMasters/notesMaster1.xml" Id="Rae61ec49547a42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e8b11f198e4b06" /><Relationship Type="http://schemas.openxmlformats.org/officeDocument/2006/relationships/notesMaster" Target="/ppt/notesMasters/notesMaster1.xml" Id="Rccfe1963dfec44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4586c94c7845ce" /><Relationship Type="http://schemas.openxmlformats.org/officeDocument/2006/relationships/notesMaster" Target="/ppt/notesMasters/notesMaster1.xml" Id="Rf79f14af14274b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97411dde064599" /><Relationship Type="http://schemas.openxmlformats.org/officeDocument/2006/relationships/notesMaster" Target="/ppt/notesMasters/notesMaster1.xml" Id="R753fafdc2fa140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057cd41215456d" /><Relationship Type="http://schemas.openxmlformats.org/officeDocument/2006/relationships/notesMaster" Target="/ppt/notesMasters/notesMaster1.xml" Id="Rc34e679faeeb4a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d836d3dd014504" /><Relationship Type="http://schemas.openxmlformats.org/officeDocument/2006/relationships/notesMaster" Target="/ppt/notesMasters/notesMaster1.xml" Id="Re3c73461cf0e4d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ce5249393247cb" /><Relationship Type="http://schemas.openxmlformats.org/officeDocument/2006/relationships/notesMaster" Target="/ppt/notesMasters/notesMaster1.xml" Id="Re92fe1dbb4f44f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a14db1e7af44a4" /><Relationship Type="http://schemas.openxmlformats.org/officeDocument/2006/relationships/notesMaster" Target="/ppt/notesMasters/notesMaster1.xml" Id="Rce17873198f04e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0f0de5d91b44b9" /><Relationship Type="http://schemas.openxmlformats.org/officeDocument/2006/relationships/notesMaster" Target="/ppt/notesMasters/notesMaster1.xml" Id="R9b628fab0edb47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539f5a36c74c05" /><Relationship Type="http://schemas.openxmlformats.org/officeDocument/2006/relationships/notesMaster" Target="/ppt/notesMasters/notesMaster1.xml" Id="R0805f9726a7c49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fab88870874512" /><Relationship Type="http://schemas.openxmlformats.org/officeDocument/2006/relationships/notesMaster" Target="/ppt/notesMasters/notesMaster1.xml" Id="Rd1f02037695d45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9ef05ce11c499e" /><Relationship Type="http://schemas.openxmlformats.org/officeDocument/2006/relationships/notesMaster" Target="/ppt/notesMasters/notesMaster1.xml" Id="R62b2eeb8d4a64b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f2ce82217b49d4" /><Relationship Type="http://schemas.openxmlformats.org/officeDocument/2006/relationships/notesMaster" Target="/ppt/notesMasters/notesMaster1.xml" Id="R9348d3764d1844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3cc10b54e0462d" /><Relationship Type="http://schemas.openxmlformats.org/officeDocument/2006/relationships/notesMaster" Target="/ppt/notesMasters/notesMaster1.xml" Id="R54e70c0f93ee47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title: An Explainable Multimodal AI Framework for Autism-Related Behavioral Analysis. Team identities from the supplied handoff. Role titles and institutional endorsement are not inferred. No clinical diagnosis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FINAL_EXPERIMENT_REVIEW.txt, MODEL_CARD.md and ASD_FEAT_E6_SELECTED_MODEL_CARD.md. Do not pool their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ASD_FEAT_E6_DEVELOPMENT_RESULTS.md and work handoff. AV-ASD source-video separation does not establish participant separation.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ASD_FEAT_E6_DEVELOPMENT_RESULTS.md. PCA and scaling fit within each fitting fold. LR settings C=1, balanced, lbfgs, max_iter=3000, random_state=42.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ASD_FEAT_E6_DEVELOPMENT_RESULTS.md. Unweighted fold means on the same 1510 recordings. RGB plus behavior selected from exploratory ablation. Winning CV score is not an independent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ASD_FEAT_E6_DEVELOPMENT_RESULTS.md and ASD_FEAT_E6_ROBUSTNESS.md. Reduced models refit. Imputation uses fitting-fold means with no refit.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ASD_FEAT_E6_SELECTED_MODEL_CARD.md and frozen_model_config.json, as reported in the supplied handoff. Artifact hash appears in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ASD_FEAT_E6_FROZEN_RESULTS.md. 162 recordings from 30 participants. Positive recordings all belong to one participant. TP10 FP34 FN2 TN116.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MODEL_CARD.md. Validation-selected combined_lr, frozen threshold0.30. Bootstrap intervals condition on the fixed model and source groups.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work handoff, saved Windows reproduction outputs and TRAINING_REPRODUCTION.md. These are prepared-input same-environment checks, not independent media regeneration.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RESEARCH_ANALYSIS_UI_VALIDATION.md, RESEARCH_INPUT_VALIDATION.json and uploaded Research_Analysis_Report (3).html. 16.61% uncalibrated score, below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AV-ASD workflow only; it does not generate I3D or human-coded inputs for ASD-FEAT. Sources: docs/VIDEO_UPLOAD_FINAL_STATUS.md; results/video_upload_validation/20261011T194344_005289Z/validation.json; user-inspected HTML exports. Above-threshold predictions are not confirmed behaviors; scores are not clinical probabilities.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results/video_upload_validation/20261011T194344_005289Z/validation.json; results/video_upload_cases/20261011T195412_015353Z/upload_case_validation.json; results/video_upload_explanations/20261011T202257_847333Z/validation.json. Exported HTML summary and ten explanation tables inspected; clearing previous report confirmed by the user. No fitting or tuning occurred.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research conclusions preserved. MP4 upload is implemented only for the handcrafted AV-ASD baseline. ASD-FEAT raw-media extraction, clinical diagnosis/severity and calibrated risk are not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914310dff43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37f1fb1c247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72f1572924e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c4251a8a641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b126c3d7a4a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0b629cf7c4c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03FCC4-31DF-4B07-961A-43BBD2B098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F2D04C-A5B7-4B1F-BE58-68ACF728AF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573648-D180-49D9-BC25-8094249D0C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F86D24-283F-4227-BA50-E4D3FA92AF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ECD87B-85FA-4C27-9D98-1CE9017D4A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CA6689-FF58-4D6E-BFB6-624CBFE6F7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89BF0E-A6BD-4643-8417-75BB2A421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2BB261-30B3-480C-9552-E3A2F01659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0859F9-7BCC-4316-9F41-8A24AECAC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8BE650-F5B6-497E-BAEC-37B6B1389A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e7a93b140e4ca5" /><Relationship Type="http://schemas.openxmlformats.org/officeDocument/2006/relationships/slideLayout" Target="/ppt/slideLayouts/slideLayout1.xml" Id="R9d3718081f5b4fad" /><Relationship Type="http://schemas.openxmlformats.org/officeDocument/2006/relationships/slideLayout" Target="/ppt/slideLayouts/slideLayout2.xml" Id="R5783585c45d64bdd" /><Relationship Type="http://schemas.openxmlformats.org/officeDocument/2006/relationships/slideLayout" Target="/ppt/slideLayouts/slideLayout3.xml" Id="R3159d9b96cbd4472" /><Relationship Type="http://schemas.openxmlformats.org/officeDocument/2006/relationships/slideLayout" Target="/ppt/slideLayouts/slideLayout4.xml" Id="R13ce832c776e49ff" /><Relationship Type="http://schemas.openxmlformats.org/officeDocument/2006/relationships/slideLayout" Target="/ppt/slideLayouts/slideLayout5.xml" Id="R6c94290cf3154959" /><Relationship Type="http://schemas.openxmlformats.org/officeDocument/2006/relationships/slideLayout" Target="/ppt/slideLayouts/slideLayout6.xml" Id="Rfb43ff429bc341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3718081f5b4fad"/>
    <p:sldLayoutId xmlns:r="http://schemas.openxmlformats.org/officeDocument/2006/relationships" id="2147483650" r:id="R5783585c45d64bdd"/>
    <p:sldLayoutId xmlns:r="http://schemas.openxmlformats.org/officeDocument/2006/relationships" id="2147483651" r:id="R3159d9b96cbd4472"/>
    <p:sldLayoutId xmlns:r="http://schemas.openxmlformats.org/officeDocument/2006/relationships" id="2147483652" r:id="R13ce832c776e49ff"/>
    <p:sldLayoutId xmlns:r="http://schemas.openxmlformats.org/officeDocument/2006/relationships" id="2147483653" r:id="R6c94290cf3154959"/>
    <p:sldLayoutId xmlns:r="http://schemas.openxmlformats.org/officeDocument/2006/relationships" id="2147483654" r:id="Rfb43ff429bc341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63a24b83a42b2" /><Relationship Type="http://schemas.openxmlformats.org/officeDocument/2006/relationships/notesSlide" Target="/ppt/notesSlides/notesSlide1.xml" Id="R91c7ad51d0d64a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d157158c646f6" /><Relationship Type="http://schemas.openxmlformats.org/officeDocument/2006/relationships/notesSlide" Target="/ppt/notesSlides/notesSlide2.xml" Id="R0a0446ab8ec945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562f90f404d76" /><Relationship Type="http://schemas.openxmlformats.org/officeDocument/2006/relationships/notesSlide" Target="/ppt/notesSlides/notesSlide3.xml" Id="Rdecb32982b3e4c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dfa25dde749c2" /><Relationship Type="http://schemas.openxmlformats.org/officeDocument/2006/relationships/notesSlide" Target="/ppt/notesSlides/notesSlide4.xml" Id="R9aec2017d42841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69340275d46f2" /><Relationship Type="http://schemas.openxmlformats.org/officeDocument/2006/relationships/notesSlide" Target="/ppt/notesSlides/notesSlide5.xml" Id="R59add15257314e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f89650b1843e3" /><Relationship Type="http://schemas.openxmlformats.org/officeDocument/2006/relationships/notesSlide" Target="/ppt/notesSlides/notesSlide6.xml" Id="R47d4e59a23d544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8805ec2aa481b" /><Relationship Type="http://schemas.openxmlformats.org/officeDocument/2006/relationships/notesSlide" Target="/ppt/notesSlides/notesSlide7.xml" Id="Rfa8ce5fe2da844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75a9d70e24a4d" /><Relationship Type="http://schemas.openxmlformats.org/officeDocument/2006/relationships/notesSlide" Target="/ppt/notesSlides/notesSlide8.xml" Id="R4aa4a2ccd4cc46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4baa6e0fb4154" /><Relationship Type="http://schemas.openxmlformats.org/officeDocument/2006/relationships/notesSlide" Target="/ppt/notesSlides/notesSlide9.xml" Id="R6936b4b2fb5744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8d963f9344c79" /><Relationship Type="http://schemas.openxmlformats.org/officeDocument/2006/relationships/notesSlide" Target="/ppt/notesSlides/notesSlide10.xml" Id="R618344e38ab049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3d4521f8a45c1" /><Relationship Type="http://schemas.openxmlformats.org/officeDocument/2006/relationships/notesSlide" Target="/ppt/notesSlides/notesSlide11.xml" Id="R3a315a91f72543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daab95fe6d42a4" /><Relationship Type="http://schemas.openxmlformats.org/officeDocument/2006/relationships/notesSlide" Target="/ppt/notesSlides/notesSlide12.xml" Id="R580d1f89196147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3a382ad674812" /><Relationship Type="http://schemas.openxmlformats.org/officeDocument/2006/relationships/notesSlide" Target="/ppt/notesSlides/notesSlide13.xml" Id="R27dfcdabf4994d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a3244cf4814368" /><Relationship Type="http://schemas.openxmlformats.org/officeDocument/2006/relationships/notesSlide" Target="/ppt/notesSlides/notesSlide14.xml" Id="R1a619050990842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22872-7CFD-48D5-A205-8BD82438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Explainable multimodal AI</a:t>
            </a:r>
          </a:p>
          <a:p xmlns:a="http://schemas.openxmlformats.org/drawingml/2006/main">
            <a:pPr>
              <a:buNone/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 autism-related</a:t>
            </a:r>
          </a:p>
          <a:p xmlns:a="http://schemas.openxmlformats.org/drawingml/2006/main">
            <a:pPr>
              <a:buNone/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behavioral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366E2-A1B8-4691-A07F-1829792C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8D8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A8D8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A8D8FF"/>
                </a:solidFill>
                <a:latin typeface="DejaVu Sans"/>
                <a:ea typeface="DejaVu Sans"/>
                <a:cs typeface="DejaVu Sans"/>
              </a:rPr>
              <a:t>Applied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9860F-DF7E-4E04-B29D-5AA7D3A4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Muhammad Danial   Hamza Rasheed   Muhammad Freeh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BE3E3-3A39-4863-A18D-2E196570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8D8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A8D8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8D8FF"/>
                </a:solidFill>
                <a:latin typeface="DejaVu Sans"/>
                <a:ea typeface="DejaVu Sans"/>
                <a:cs typeface="DejaVu Sans"/>
              </a:rPr>
              <a:t>Prepared-feature research and AV-ASD MP4 analysis</a:t>
            </a:r>
          </a:p>
        </p:txBody>
      </p:sp>
    </p:spTree>
    <p:extLst>
      <p:ext uri="{BB962C8B-B14F-4D97-AF65-F5344CB8AC3E}">
        <p14:creationId xmlns:p14="http://schemas.microsoft.com/office/powerpoint/2010/main" val="401799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9E171-8EB5-4C92-8E53-EFCF3391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Two research tracks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47D1F-30CA-4C54-BF0C-C4862EC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0CB39-7FF9-4486-874A-6CF68D6E2DA3}"/>
              </a:ext>
            </a:extLst>
          </p:cNvPr>
          <p:cNvGraphicFramePr/>
          <p:nvPr/>
        </p:nvGraphicFramePr>
        <p:xfrm>
          <a:off xmlns:a="http://schemas.openxmlformats.org/drawingml/2006/main" x="714375" y="1809750"/>
          <a:ext xmlns:a="http://schemas.openxmlformats.org/drawingml/2006/main" cx="107632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810250"/>
                <a:gridCol w="2857500"/>
              </a:tblGrid>
              <a:tr h="698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Track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Evaluation unit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AV-ASD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Ten annotated behavior labels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Video clip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ASD-FEAT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Current-visit ASD annotation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857F6-E887-4E51-92D5-8807E6ED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527 usable AV-ASD clips. 1,510 aligned ASD-FEAT development recordings.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F2270-1F40-42B9-B2B6-345DA89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Scores concern different targets and cannot be combined into one accuracy.</a:t>
            </a:r>
          </a:p>
        </p:txBody>
      </p:sp>
    </p:spTree>
    <p:extLst>
      <p:ext uri="{BB962C8B-B14F-4D97-AF65-F5344CB8AC3E}">
        <p14:creationId xmlns:p14="http://schemas.microsoft.com/office/powerpoint/2010/main" val="23736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A5516-542B-4A0B-BE23-8F90B27A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Participant grouping and feature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050DB-218C-4039-B734-5F3BA8D9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16D84-DA69-4387-9CAB-F78FC700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ASD-FEAT: 259 development participants and 113 positive recordings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CF072-9BF1-4407-9FF9-CD9DC6E9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050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Five evaluation folds with zero fitting/evaluation participant overlap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27950-047F-4D36-98D9-23B5CFF1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224 audio summaries, 1,024 RGB features and 12 human-coded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EC0CC-FCAD-4345-8D6A-64AEED1E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Three missing-audio recordings excluded consistently from E6 comparisons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FE8DE-0973-4C3C-984E-D085E1E3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AV-ASD: 312 training, 108 validation and 107 test clips</a:t>
            </a:r>
          </a:p>
        </p:txBody>
      </p:sp>
    </p:spTree>
    <p:extLst>
      <p:ext uri="{BB962C8B-B14F-4D97-AF65-F5344CB8AC3E}">
        <p14:creationId xmlns:p14="http://schemas.microsoft.com/office/powerpoint/2010/main" val="510125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FECF9-6DD3-46F1-A202-408331CA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Model and fusion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D7C72-7D7C-47C9-ACA7-FA5727F8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AA13B-C51A-42DE-BEE5-8D6FCEEB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Standardize inputs and fit 32 PCA components per audio or RGB branch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7B712-BC05-43B8-AAFA-AC175982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050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Early fusion combines branch representations before logistic regression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35A73-E0EC-46FE-93F9-E13A8194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Late fusion averages branch model probabilities with equal weights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48668-589C-4532-89D2-B9586DA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Human-coded behavior uses twelve rates and proportions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705FD-C0B9-412A-812C-8AB9B208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ASD-FEAT threshold stays fixed at 0.5</a:t>
            </a:r>
          </a:p>
        </p:txBody>
      </p:sp>
    </p:spTree>
    <p:extLst>
      <p:ext uri="{BB962C8B-B14F-4D97-AF65-F5344CB8AC3E}">
        <p14:creationId xmlns:p14="http://schemas.microsoft.com/office/powerpoint/2010/main" val="125564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4986F-D771-477E-B1CF-9354A74B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ASD-FEAT development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A8AD7-8244-481A-8280-1A80D8D2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D3808-F334-4DA0-BF0C-F4A2FBD5E0AC}"/>
              </a:ext>
            </a:extLst>
          </p:cNvPr>
          <p:cNvGraphicFramePr/>
          <p:nvPr/>
        </p:nvGraphicFramePr>
        <p:xfrm>
          <a:off xmlns:a="http://schemas.openxmlformats.org/drawingml/2006/main" x="714375" y="1562100"/>
          <a:ext xmlns:a="http://schemas.openxmlformats.org/drawingml/2006/main" cx="10763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571750"/>
                <a:gridCol w="2571750"/>
              </a:tblGrid>
              <a:tr h="53067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 ASD F1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Mean ROC-AUC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Audio PCA32 LR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0.2057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0.7071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Behavior LR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0.2140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0.6922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RGB PCA32 LR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0.2729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0.7730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Three-branch late fusion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0.2793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0.7915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Three-branch early fusion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0.2920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0.7721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RGB plus behavior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0.3142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0.8070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CDE3D-1727-4B35-9941-32BAED7C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The selected two-branch candidate improved ASD F1 in four of five folds.</a:t>
            </a:r>
          </a:p>
        </p:txBody>
      </p:sp>
    </p:spTree>
    <p:extLst>
      <p:ext uri="{BB962C8B-B14F-4D97-AF65-F5344CB8AC3E}">
        <p14:creationId xmlns:p14="http://schemas.microsoft.com/office/powerpoint/2010/main" val="5271554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F54F2-B126-4918-83D9-CEC48D04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Ablation and simulated missing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8E13E-9E7B-44FE-99E2-3027FAD6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F6C0F-20AA-4C98-BF13-444A28CA5352}"/>
              </a:ext>
            </a:extLst>
          </p:cNvPr>
          <p:cNvGraphicFramePr/>
          <p:nvPr/>
        </p:nvGraphicFramePr>
        <p:xfrm>
          <a:off xmlns:a="http://schemas.openxmlformats.org/drawingml/2006/main" x="714375" y="1714500"/>
          <a:ext xmlns:a="http://schemas.openxmlformats.org/drawingml/2006/main" cx="107632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333750"/>
                <a:gridCol w="3333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Branch removed or replaced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Refitted ablation F1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model imputation F1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0.2920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0.2920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Audio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0.3142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0.3037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RGB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0.2585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0.1507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Behavior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0.2237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0.2042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35C66-8C2B-4B8A-8248-C8D195A7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Different experiments: refitting reduced models versus replacing inputs.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652FA-99A9-4034-8AD9-C551EF6D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531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These simulations do not establish reliability with real missing inputs.</a:t>
            </a:r>
          </a:p>
        </p:txBody>
      </p:sp>
    </p:spTree>
    <p:extLst>
      <p:ext uri="{BB962C8B-B14F-4D97-AF65-F5344CB8AC3E}">
        <p14:creationId xmlns:p14="http://schemas.microsoft.com/office/powerpoint/2010/main" val="1905324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E90E9-10B7-4420-A809-FC67D8BC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Selected frozen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53A90-8222-4801-B025-B0CC41B7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B4840-AF0F-459B-8A82-8CFC30A6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Inputs: 1,024 pooled I3D RGB features plus 12 human-coded values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FB8F7-3A00-43D2-B55B-06DD9AF0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050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RGB PCA32 and balanced logistic regression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8EE95-3CED-4AEB-851E-EA29B4FF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Fit on 1,510 development recordings with threshold 0.5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FD560-25D5-4B47-BBB8-05E2CDEB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Candidate selection used exploratory development comparisons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CFC4C-9AF5-4ACC-BF11-33E8E8A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The official test had already been inspected for E1</a:t>
            </a:r>
          </a:p>
        </p:txBody>
      </p:sp>
    </p:spTree>
    <p:extLst>
      <p:ext uri="{BB962C8B-B14F-4D97-AF65-F5344CB8AC3E}">
        <p14:creationId xmlns:p14="http://schemas.microsoft.com/office/powerpoint/2010/main" val="1283605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A38C2-E8AF-4413-BA00-359B3B63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Frozen recording-level 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09101-67D1-4D82-9280-F591F25F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BF068-8959-46F6-8A5D-948AB35F1075}"/>
              </a:ext>
            </a:extLst>
          </p:cNvPr>
          <p:cNvGraphicFramePr/>
          <p:nvPr/>
        </p:nvGraphicFramePr>
        <p:xfrm>
          <a:off xmlns:a="http://schemas.openxmlformats.org/drawingml/2006/main" x="714375" y="1543050"/>
          <a:ext xmlns:a="http://schemas.openxmlformats.org/drawingml/2006/main" cx="1076325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286250"/>
              </a:tblGrid>
              <a:tr h="46944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RGB plus behavior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ASD F1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0.3571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0.2273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0.8333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Balanced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0.8033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0.8728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Average precision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0.2608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65ED3-3A33-45F4-B95A-B8909493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01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10 detected positive recordings, 34 false positives and 2 missed positives.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A9BA5-0B6B-4997-9287-30094F2A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9C2F2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9C2F2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9C2F22"/>
                </a:solidFill>
                <a:latin typeface="DejaVu Sans"/>
                <a:ea typeface="DejaVu Sans"/>
                <a:cs typeface="DejaVu Sans"/>
              </a:rPr>
              <a:t>All 12 positive test recordings represent one participant.</a:t>
            </a:r>
          </a:p>
        </p:txBody>
      </p:sp>
    </p:spTree>
    <p:extLst>
      <p:ext uri="{BB962C8B-B14F-4D97-AF65-F5344CB8AC3E}">
        <p14:creationId xmlns:p14="http://schemas.microsoft.com/office/powerpoint/2010/main" val="572598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D0392-FCC3-462F-AF8F-E2421B61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AV-ASD primary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94E16-A2FC-4E4D-BD53-A9FBE049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EC286-B022-4D8C-B6EB-90E600BFA2B1}"/>
              </a:ext>
            </a:extLst>
          </p:cNvPr>
          <p:cNvGraphicFramePr/>
          <p:nvPr/>
        </p:nvGraphicFramePr>
        <p:xfrm>
          <a:off xmlns:a="http://schemas.openxmlformats.org/drawingml/2006/main" x="714375" y="1619250"/>
          <a:ext xmlns:a="http://schemas.openxmlformats.org/drawingml/2006/main" cx="107632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571750"/>
                <a:gridCol w="2571750"/>
              </a:tblGrid>
              <a:tr h="539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Macro F1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Micro F1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Audio LR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0.2854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0.3432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Visual LR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0.3090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0.3499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Combined LR primary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0.2937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0.3544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Combined random forest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0.2239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0.3348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Late fusion LR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0.3111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0.3602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B9635-9FE1-4B05-BF56-67665F68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Primary status follows validation selection, not the highest test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47DE6-4A74-42A7-B454-FEDD3AA4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Original-video separation does not establish participant separation.</a:t>
            </a:r>
          </a:p>
        </p:txBody>
      </p:sp>
    </p:spTree>
    <p:extLst>
      <p:ext uri="{BB962C8B-B14F-4D97-AF65-F5344CB8AC3E}">
        <p14:creationId xmlns:p14="http://schemas.microsoft.com/office/powerpoint/2010/main" val="5124305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E8AA2-7C24-490B-A112-76193558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Explainability and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92811-87F7-4E36-B13C-1E5586C2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07187-1E9D-4C25-B3C7-B84A8318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Exact transformed-feature contributions reconstruct fitted logits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3215E-3893-4D69-9BF2-1946DE4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050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Branch sums explain the fitted score without claiming causation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E79C2-1A65-42A4-A29C-225508BF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E6 reproduction: 1,510 OOF rows and 30 fold rows match exactly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AB3BA-FDB2-4121-A762-967D7CE0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AV-ASD LR retraining reproduces validation probabilities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CAB68-B688-45D3-896D-DF287F82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Explanations are linear contributions, not SHAP values</a:t>
            </a:r>
          </a:p>
        </p:txBody>
      </p:sp>
    </p:spTree>
    <p:extLst>
      <p:ext uri="{BB962C8B-B14F-4D97-AF65-F5344CB8AC3E}">
        <p14:creationId xmlns:p14="http://schemas.microsoft.com/office/powerpoint/2010/main" val="2148680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45F75-AA53-4CD3-8809-6FE783C9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ASD-FEAT feature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8A9E9-884C-466F-86C3-D6D40875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10224-CDD7-4446-9E90-CB045CE7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Choose Existing test recording demonstration and Recording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9A701-8888-4926-B508-7777DF21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050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Analyze prepared research features and inspect branch contributions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2F852-7BB1-412F-8AA7-A3A365D5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Upload the matching one-row, 1,036-feature 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6C98F-60AD-4556-98BD-81CC15A1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Both modes show 16.61% and support HTML report download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CF5CE-8AE9-4D5D-AB4F-9609601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Ten input-validation function checks passed on Windows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969A0-841A-4BC8-A354-F293C3D2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2F2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9C2F2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C2F22"/>
                </a:solidFill>
                <a:latin typeface="DejaVu Sans"/>
                <a:ea typeface="DejaVu Sans"/>
                <a:cs typeface="DejaVu Sans"/>
              </a:rPr>
              <a:t>16.61% is an uncalibrated model score. It is not a validated autism risk.</a:t>
            </a:r>
          </a:p>
        </p:txBody>
      </p:sp>
    </p:spTree>
    <p:extLst>
      <p:ext uri="{BB962C8B-B14F-4D97-AF65-F5344CB8AC3E}">
        <p14:creationId xmlns:p14="http://schemas.microsoft.com/office/powerpoint/2010/main" val="21124832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9DED8-69C9-4161-80F0-DAC023AD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AV-ASD video upload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2C946-3E1C-4A0A-A92C-29079C76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81C0B-AC3B-4820-9632-3DE5517F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Local MP4 with audio: up to 120 seconds, 7,200 frames and 200 MiB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0602B-102B-40E2-AFEE-297312D0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050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Frozen combined LR: 44 audio + 14 visual features; threshold 0.30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93009-80DA-42C0-98B0-C22B1F4D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Ten label scores, recording summary and top feature contributions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F48F5-ACBF-4EDA-B6AC-5043AD1F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Silent audio flagged; no-audio, long and corrupt inputs rejected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FEFBE-2D29-4A5A-A4B2-D891E304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HTML/JSON export; selecting another video clears the previous report</a:t>
            </a:r>
          </a:p>
        </p:txBody>
      </p:sp>
    </p:spTree>
    <p:extLst>
      <p:ext uri="{BB962C8B-B14F-4D97-AF65-F5344CB8AC3E}">
        <p14:creationId xmlns:p14="http://schemas.microsoft.com/office/powerpoint/2010/main" val="9103015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19141-1D52-4C39-B61A-D47FA966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Video workflow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CFFB7-ECFB-4619-8CCC-51A84B52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17982-440C-4D15-A3CB-46528699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5 / 5 existing clips reproduced saved features and predictions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6DBEC-09F7-48FF-AD38-B3D7D278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050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5 / 5 synthetic upload cases passed acceptance and rejection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1D931-9969-4670-8985-7BDE5B75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1,070 label explanations reconstructed scores across 107 recordings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D87F7-4C7B-4316-9A70-B710B076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Maximum score difference: 6.66e-16; exported branch sums checked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816B6-F3E8-448E-A5E7-FA73E4A8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These checks do not establish accuracy on arbitrary new videos</a:t>
            </a:r>
          </a:p>
        </p:txBody>
      </p:sp>
    </p:spTree>
    <p:extLst>
      <p:ext uri="{BB962C8B-B14F-4D97-AF65-F5344CB8AC3E}">
        <p14:creationId xmlns:p14="http://schemas.microsoft.com/office/powerpoint/2010/main" val="14309342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5C8E3-9ABE-4281-AC42-310F87B1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Conclusions and next research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125D8-E616-4954-861A-7E5E09A8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7D9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AD42F-0D9E-45AB-9EF5-EFD25522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RGB plus human-coded behavior leads the tested development F1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DBCC9-9C0C-4F7A-B594-8067CDF6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050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Low precision and one positive test participant limit generalization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A96EB-7020-48D3-A489-9F6E1EC9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Prepared-feature and AV-ASD video pages provide model explanations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23F34-C468-49DC-9015-A56DFF47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Independent participant validation and provenance checks remain necessary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F8B0F-0660-4429-BAB5-9E73228C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ASD-FEAT raw-media integration and temporal models remain future work</a:t>
            </a:r>
          </a:p>
        </p:txBody>
      </p:sp>
    </p:spTree>
    <p:extLst>
      <p:ext uri="{BB962C8B-B14F-4D97-AF65-F5344CB8AC3E}">
        <p14:creationId xmlns:p14="http://schemas.microsoft.com/office/powerpoint/2010/main" val="1808176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2026-10-12T10:22:16.1970000Z</dcterms:created>
  <dcterms:modified xsi:type="dcterms:W3CDTF">2026-10-12T10:22:16.1970000Z</dcterms:modified>
</coreProperties>
</file>