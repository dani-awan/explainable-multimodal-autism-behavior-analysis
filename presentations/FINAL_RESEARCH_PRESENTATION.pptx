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0bc8d4db054785" /><Relationship Type="http://schemas.openxmlformats.org/officeDocument/2006/relationships/extended-properties" Target="/docProps/app.xml" Id="Re225c662101b473b" /><Relationship Type="http://schemas.openxmlformats.org/officeDocument/2006/relationships/officeDocument" Target="/ppt/presentation.xml" Id="Rf824d946c30743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6214dc0da846a7"/>
  </p:sldMasterIdLst>
  <p:notesMasterIdLst>
    <p:notesMasterId xmlns:r="http://schemas.openxmlformats.org/officeDocument/2006/relationships" r:id="R8edcbb9cf45b4781"/>
  </p:notesMasterIdLst>
  <p:sldIdLst>
    <p:sldId xmlns:r="http://schemas.openxmlformats.org/officeDocument/2006/relationships" id="256" r:id="Re7b71863a7444fca"/>
    <p:sldId xmlns:r="http://schemas.openxmlformats.org/officeDocument/2006/relationships" id="257" r:id="R1e3d58f89fdc44e2"/>
    <p:sldId xmlns:r="http://schemas.openxmlformats.org/officeDocument/2006/relationships" id="258" r:id="R4f3c0d4200f34d80"/>
    <p:sldId xmlns:r="http://schemas.openxmlformats.org/officeDocument/2006/relationships" id="259" r:id="Rc6eec8418e59483b"/>
    <p:sldId xmlns:r="http://schemas.openxmlformats.org/officeDocument/2006/relationships" id="260" r:id="R17073f3587164049"/>
    <p:sldId xmlns:r="http://schemas.openxmlformats.org/officeDocument/2006/relationships" id="261" r:id="R11fdb68dce4d4562"/>
    <p:sldId xmlns:r="http://schemas.openxmlformats.org/officeDocument/2006/relationships" id="262" r:id="R28760837a7c24e67"/>
    <p:sldId xmlns:r="http://schemas.openxmlformats.org/officeDocument/2006/relationships" id="263" r:id="R9127a08d23294e27"/>
    <p:sldId xmlns:r="http://schemas.openxmlformats.org/officeDocument/2006/relationships" id="264" r:id="R3edc14e340184726"/>
    <p:sldId xmlns:r="http://schemas.openxmlformats.org/officeDocument/2006/relationships" id="265" r:id="R4e19fe46e370452e"/>
    <p:sldId xmlns:r="http://schemas.openxmlformats.org/officeDocument/2006/relationships" id="266" r:id="Rd4877f62981f4349"/>
    <p:sldId xmlns:r="http://schemas.openxmlformats.org/officeDocument/2006/relationships" id="267" r:id="Rc78cf22178074e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7f476710994f0b" /><Relationship Type="http://schemas.openxmlformats.org/officeDocument/2006/relationships/slideMaster" Target="/ppt/slideMasters/slideMaster1.xml" Id="R796214dc0da846a7" /><Relationship Type="http://schemas.openxmlformats.org/officeDocument/2006/relationships/notesMaster" Target="/ppt/notesMasters/notesMaster1.xml" Id="R8edcbb9cf45b4781" /><Relationship Type="http://schemas.openxmlformats.org/officeDocument/2006/relationships/presProps" Target="/ppt/presProps.xml" Id="R415b910586b84233" /><Relationship Type="http://schemas.openxmlformats.org/officeDocument/2006/relationships/tableStyles" Target="/ppt/tableStyles.xml" Id="R6c22c25f10f34791" /><Relationship Type="http://schemas.openxmlformats.org/officeDocument/2006/relationships/slide" Target="/ppt/slides/slide1.xml" Id="Re7b71863a7444fca" /><Relationship Type="http://schemas.openxmlformats.org/officeDocument/2006/relationships/slide" Target="/ppt/slides/slide2.xml" Id="R1e3d58f89fdc44e2" /><Relationship Type="http://schemas.openxmlformats.org/officeDocument/2006/relationships/slide" Target="/ppt/slides/slide3.xml" Id="R4f3c0d4200f34d80" /><Relationship Type="http://schemas.openxmlformats.org/officeDocument/2006/relationships/slide" Target="/ppt/slides/slide4.xml" Id="Rc6eec8418e59483b" /><Relationship Type="http://schemas.openxmlformats.org/officeDocument/2006/relationships/slide" Target="/ppt/slides/slide5.xml" Id="R17073f3587164049" /><Relationship Type="http://schemas.openxmlformats.org/officeDocument/2006/relationships/slide" Target="/ppt/slides/slide6.xml" Id="R11fdb68dce4d4562" /><Relationship Type="http://schemas.openxmlformats.org/officeDocument/2006/relationships/slide" Target="/ppt/slides/slide7.xml" Id="R28760837a7c24e67" /><Relationship Type="http://schemas.openxmlformats.org/officeDocument/2006/relationships/slide" Target="/ppt/slides/slide8.xml" Id="R9127a08d23294e27" /><Relationship Type="http://schemas.openxmlformats.org/officeDocument/2006/relationships/slide" Target="/ppt/slides/slide9.xml" Id="R3edc14e340184726" /><Relationship Type="http://schemas.openxmlformats.org/officeDocument/2006/relationships/slide" Target="/ppt/slides/slide10.xml" Id="R4e19fe46e370452e" /><Relationship Type="http://schemas.openxmlformats.org/officeDocument/2006/relationships/slide" Target="/ppt/slides/slide11.xml" Id="Rd4877f62981f4349" /><Relationship Type="http://schemas.openxmlformats.org/officeDocument/2006/relationships/slide" Target="/ppt/slides/slide12.xml" Id="Rc78cf22178074e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c70052504f4e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02fdef4afd4b48" /><Relationship Type="http://schemas.openxmlformats.org/officeDocument/2006/relationships/notesMaster" Target="/ppt/notesMasters/notesMaster1.xml" Id="Rba6debbcf5c845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e8fb4802e34271" /><Relationship Type="http://schemas.openxmlformats.org/officeDocument/2006/relationships/notesMaster" Target="/ppt/notesMasters/notesMaster1.xml" Id="Rfab6864a8e5847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5933eca52f457d" /><Relationship Type="http://schemas.openxmlformats.org/officeDocument/2006/relationships/notesMaster" Target="/ppt/notesMasters/notesMaster1.xml" Id="R6c75f7ba1bf849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c2854f16b24165" /><Relationship Type="http://schemas.openxmlformats.org/officeDocument/2006/relationships/notesMaster" Target="/ppt/notesMasters/notesMaster1.xml" Id="R8c09256a42034c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49299f45b94b7d" /><Relationship Type="http://schemas.openxmlformats.org/officeDocument/2006/relationships/notesMaster" Target="/ppt/notesMasters/notesMaster1.xml" Id="R3a58929d37a740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6318e3606543df" /><Relationship Type="http://schemas.openxmlformats.org/officeDocument/2006/relationships/notesMaster" Target="/ppt/notesMasters/notesMaster1.xml" Id="R1d3d15fe979640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80315b12b04d10" /><Relationship Type="http://schemas.openxmlformats.org/officeDocument/2006/relationships/notesMaster" Target="/ppt/notesMasters/notesMaster1.xml" Id="Rae7736520dc145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8c9e53768d4e93" /><Relationship Type="http://schemas.openxmlformats.org/officeDocument/2006/relationships/notesMaster" Target="/ppt/notesMasters/notesMaster1.xml" Id="R23856786a64446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9c2d67a11b4315" /><Relationship Type="http://schemas.openxmlformats.org/officeDocument/2006/relationships/notesMaster" Target="/ppt/notesMasters/notesMaster1.xml" Id="Rdc4e27f3136742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ec091cfc224a0b" /><Relationship Type="http://schemas.openxmlformats.org/officeDocument/2006/relationships/notesMaster" Target="/ppt/notesMasters/notesMaster1.xml" Id="R119c0cb77e0a41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0ce0537de74093" /><Relationship Type="http://schemas.openxmlformats.org/officeDocument/2006/relationships/notesMaster" Target="/ppt/notesMasters/notesMaster1.xml" Id="Re600ab3ff0304d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d52dc2a4074eac" /><Relationship Type="http://schemas.openxmlformats.org/officeDocument/2006/relationships/notesMaster" Target="/ppt/notesMasters/notesMaster1.xml" Id="R016dd05a6e6e4d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title: An Explainable Multimodal AI Framework for Autism-Related Behavioral Analysis. Team identities from the supplied handoff. Role titles and institutional endorsement are not inferred. No clinical diagnosis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supplied FINAL_EXPERIMENT_REVIEW.txt, MODEL_CARD.md and ASD_FEAT_E6_SELECTED_MODEL_CARD.md. Do not pool their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ASD_FEAT_E6_DEVELOPMENT_RESULTS.md and work handoff. AV-ASD source-video separation does not establish participant separation.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ASD_FEAT_E6_DEVELOPMENT_RESULTS.md. PCA and scaling fit within each fitting fold. LR settings C=1, balanced, lbfgs, max_iter=3000, random_state=42.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ASD_FEAT_E6_DEVELOPMENT_RESULTS.md. Unweighted fold means on the same 1510 recordings. RGB plus behavior selected from exploratory ablation. Winning CV score is not an independent estimate.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ASD_FEAT_E6_DEVELOPMENT_RESULTS.md and ASD_FEAT_E6_ROBUSTNESS.md. Reduced models refit. Imputation uses fitting-fold means with no refit.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ASD_FEAT_E6_SELECTED_MODEL_CARD.md and frozen_model_config.json, as reported in the supplied handoff. Artifact hash appears in final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ASD_FEAT_E6_FROZEN_RESULTS.md. 162 recordings from 30 participants. Positive recordings all belong to one participant. TP10 FP34 FN2 TN116.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MODEL_CARD.md. Validation-selected combined_lr, frozen threshold0.30. Bootstrap intervals condition on the fixed model and source groups.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 handoff, saved Windows reproduction outputs and TRAINING_REPRODUCTION.md. These are prepared-input same-environment checks, not independent media regeneration.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RESEARCH_ANALYSIS_UI_VALIDATION.md, RESEARCH_INPUT_VALIDATION.json and uploaded Research_Analysis_Report (3).html. 16.61% uncalibrated score, below threshold.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consolidated review and handoff. No claim of clinical utility or arbitrary media compatibility. Release license and bibliography verification remain publication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6682f7c496424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765f0ce73145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a73144a62a44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aa63d66f14c4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6e579c6cc14b6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d540889e341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03FCC4-31DF-4B07-961A-43BBD2B098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CF2D04C-A5B7-4B1F-BE58-68ACF728AF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A573648-D180-49D9-BC25-8094249D0C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F86D24-283F-4227-BA50-E4D3FA92AF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ECD87B-85FA-4C27-9D98-1CE9017D4A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FCA6689-FF58-4D6E-BFB6-624CBFE6F7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89BF0E-A6BD-4643-8417-75BB2A421B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D2BB261-30B3-480C-9552-E3A2F01659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0859F9-7BCC-4316-9F41-8A24AECACE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18BE650-F5B6-497E-BAEC-37B6B1389A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0fd08eac874a98" /><Relationship Type="http://schemas.openxmlformats.org/officeDocument/2006/relationships/slideLayout" Target="/ppt/slideLayouts/slideLayout1.xml" Id="R84e9d626cece47e6" /><Relationship Type="http://schemas.openxmlformats.org/officeDocument/2006/relationships/slideLayout" Target="/ppt/slideLayouts/slideLayout2.xml" Id="R78ffa95af9d84772" /><Relationship Type="http://schemas.openxmlformats.org/officeDocument/2006/relationships/slideLayout" Target="/ppt/slideLayouts/slideLayout3.xml" Id="Rf706e31a3dd54426" /><Relationship Type="http://schemas.openxmlformats.org/officeDocument/2006/relationships/slideLayout" Target="/ppt/slideLayouts/slideLayout4.xml" Id="Re261fccd202e4b87" /><Relationship Type="http://schemas.openxmlformats.org/officeDocument/2006/relationships/slideLayout" Target="/ppt/slideLayouts/slideLayout5.xml" Id="R35b0151c38274f87" /><Relationship Type="http://schemas.openxmlformats.org/officeDocument/2006/relationships/slideLayout" Target="/ppt/slideLayouts/slideLayout6.xml" Id="R4c72599fc4be44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e9d626cece47e6"/>
    <p:sldLayoutId xmlns:r="http://schemas.openxmlformats.org/officeDocument/2006/relationships" id="2147483650" r:id="R78ffa95af9d84772"/>
    <p:sldLayoutId xmlns:r="http://schemas.openxmlformats.org/officeDocument/2006/relationships" id="2147483651" r:id="Rf706e31a3dd54426"/>
    <p:sldLayoutId xmlns:r="http://schemas.openxmlformats.org/officeDocument/2006/relationships" id="2147483652" r:id="Re261fccd202e4b87"/>
    <p:sldLayoutId xmlns:r="http://schemas.openxmlformats.org/officeDocument/2006/relationships" id="2147483653" r:id="R35b0151c38274f87"/>
    <p:sldLayoutId xmlns:r="http://schemas.openxmlformats.org/officeDocument/2006/relationships" id="2147483654" r:id="R4c72599fc4be44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afed8926b5458d" /><Relationship Type="http://schemas.openxmlformats.org/officeDocument/2006/relationships/notesSlide" Target="/ppt/notesSlides/notesSlide1.xml" Id="R242aa9c8856046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9270840f7f41ec" /><Relationship Type="http://schemas.openxmlformats.org/officeDocument/2006/relationships/notesSlide" Target="/ppt/notesSlides/notesSlide2.xml" Id="R632098bc0fe943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384174c0734f9b" /><Relationship Type="http://schemas.openxmlformats.org/officeDocument/2006/relationships/notesSlide" Target="/ppt/notesSlides/notesSlide3.xml" Id="Rd54ff80724964f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deb0fb9ad6465c" /><Relationship Type="http://schemas.openxmlformats.org/officeDocument/2006/relationships/notesSlide" Target="/ppt/notesSlides/notesSlide4.xml" Id="Rab90c3b6f8f947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3c2b3e465a425d" /><Relationship Type="http://schemas.openxmlformats.org/officeDocument/2006/relationships/notesSlide" Target="/ppt/notesSlides/notesSlide5.xml" Id="R22b202965df74c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f9a6abad244de2" /><Relationship Type="http://schemas.openxmlformats.org/officeDocument/2006/relationships/notesSlide" Target="/ppt/notesSlides/notesSlide6.xml" Id="R04d99495cea345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01c80050394d2e" /><Relationship Type="http://schemas.openxmlformats.org/officeDocument/2006/relationships/notesSlide" Target="/ppt/notesSlides/notesSlide7.xml" Id="Rfd5d7224b36745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635f5fb0e648c6" /><Relationship Type="http://schemas.openxmlformats.org/officeDocument/2006/relationships/notesSlide" Target="/ppt/notesSlides/notesSlide8.xml" Id="R6de399f08f2543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57b45940141a6" /><Relationship Type="http://schemas.openxmlformats.org/officeDocument/2006/relationships/notesSlide" Target="/ppt/notesSlides/notesSlide9.xml" Id="Rfb936c32b18042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7aea1aba224ec4" /><Relationship Type="http://schemas.openxmlformats.org/officeDocument/2006/relationships/notesSlide" Target="/ppt/notesSlides/notesSlide10.xml" Id="R3bbe34ac25b844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f034933c594046" /><Relationship Type="http://schemas.openxmlformats.org/officeDocument/2006/relationships/notesSlide" Target="/ppt/notesSlides/notesSlide11.xml" Id="Rfceb607e02bf44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594426feb64375" /><Relationship Type="http://schemas.openxmlformats.org/officeDocument/2006/relationships/notesSlide" Target="/ppt/notesSlides/notesSlide12.xml" Id="Ra153d00e966f4d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22872-7CFD-48D5-A205-8BD82438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Explainable multimodal AI</a:t>
            </a:r>
          </a:p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for autism-related</a:t>
            </a:r>
          </a:p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behavioral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366E2-A1B8-4691-A07F-1829792C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191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A8D8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A8D8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A8D8FF"/>
                </a:solidFill>
                <a:latin typeface="DejaVu Sans"/>
                <a:ea typeface="DejaVu Sans"/>
                <a:cs typeface="DejaVu Sans"/>
              </a:rPr>
              <a:t>Applied research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9860F-DF7E-4E04-B29D-5AA7D3A4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Hamza Rasheed   Muhammad Danial   Muhammad Freeh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BE3E3-3A39-4863-A18D-2E196570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8D8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8D8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A8D8FF"/>
                </a:solidFill>
                <a:latin typeface="DejaVu Sans"/>
                <a:ea typeface="DejaVu Sans"/>
                <a:cs typeface="DejaVu Sans"/>
              </a:rPr>
              <a:t>Research demonstration with prepared features</a:t>
            </a:r>
          </a:p>
        </p:txBody>
      </p:sp>
    </p:spTree>
    <p:extLst>
      <p:ext uri="{BB962C8B-B14F-4D97-AF65-F5344CB8AC3E}">
        <p14:creationId xmlns:p14="http://schemas.microsoft.com/office/powerpoint/2010/main" val="401799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9E171-8EB5-4C92-8E53-EFCF3391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Two research tracks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47D1F-30CA-4C54-BF0C-C4862EC4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C81BC-90A7-4BEB-9F61-0CE896D688A4}"/>
              </a:ext>
            </a:extLst>
          </p:cNvPr>
          <p:cNvGraphicFramePr/>
          <p:nvPr/>
        </p:nvGraphicFramePr>
        <p:xfrm>
          <a:off xmlns:a="http://schemas.openxmlformats.org/drawingml/2006/main" x="714375" y="1809750"/>
          <a:ext xmlns:a="http://schemas.openxmlformats.org/drawingml/2006/main" cx="1076325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5810250"/>
                <a:gridCol w="2857500"/>
              </a:tblGrid>
              <a:tr h="6985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Track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Task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Evaluation unit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AV-ASD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Ten annotated behavior labels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Video clip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ASD-FEAT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Current-visit ASD annotation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Recording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857F6-E887-4E51-92D5-8807E6ED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527 usable AV-ASD clips. 1,510 aligned ASD-FEAT development recordings.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F2270-1F40-42B9-B2B6-345DA89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Scores concern different targets and cannot be combined into one accuracy.</a:t>
            </a:r>
          </a:p>
        </p:txBody>
      </p:sp>
    </p:spTree>
    <p:extLst>
      <p:ext uri="{BB962C8B-B14F-4D97-AF65-F5344CB8AC3E}">
        <p14:creationId xmlns:p14="http://schemas.microsoft.com/office/powerpoint/2010/main" val="237368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1A5516-542B-4A0B-BE23-8F90B27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Participant grouping and feature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050DB-218C-4039-B734-5F3BA8D9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16D84-DA69-4387-9CAB-F78FC700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573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ASD-FEAT: 259 development participants and 113 positive recordings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CF072-9BF1-4407-9FF9-CD9DC6E9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0507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Five evaluation folds with zero fitting/evaluation participant overlap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27950-047F-4D36-98D9-23B5CFF1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528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224 audio summaries, 1,024 RGB features and 12 human-coded values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EC0CC-FCAD-4345-8D6A-64AEED1E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005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Three missing-audio recordings excluded consistently from E6 comparisons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FE8DE-0973-4C3C-984E-D085E1E3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AV-ASD: 312 training, 108 validation and 107 test clips</a:t>
            </a:r>
          </a:p>
        </p:txBody>
      </p:sp>
    </p:spTree>
    <p:extLst>
      <p:ext uri="{BB962C8B-B14F-4D97-AF65-F5344CB8AC3E}">
        <p14:creationId xmlns:p14="http://schemas.microsoft.com/office/powerpoint/2010/main" val="5101253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FECF9-6DD3-46F1-A202-408331C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Model and fusion methods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D7C72-7D7C-47C9-ACA7-FA5727F8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9AA13B-C51A-42DE-BEE5-8D6FCEEB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573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Standardize inputs and fit 32 PCA components per audio or RGB branch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7B712-BC05-43B8-AAFA-AC175982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0507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Early fusion combines branch representations before logistic regression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35A73-E0EC-46FE-93F9-E13A8194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528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Late fusion averages branch model probabilities with equal weights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48668-589C-4532-89D2-B9586DA3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005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Human-coded behavior uses twelve rates and proportions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705FD-C0B9-412A-812C-8AB9B208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ASD-FEAT threshold stays fixed at 0.5</a:t>
            </a:r>
          </a:p>
        </p:txBody>
      </p:sp>
    </p:spTree>
    <p:extLst>
      <p:ext uri="{BB962C8B-B14F-4D97-AF65-F5344CB8AC3E}">
        <p14:creationId xmlns:p14="http://schemas.microsoft.com/office/powerpoint/2010/main" val="1255649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A4986F-D771-477E-B1CF-9354A74B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ASD-FEAT development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A8AD7-8244-481A-8280-1A80D8D2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6D77F-E6F4-45FC-B2B2-CC0A753CE40A}"/>
              </a:ext>
            </a:extLst>
          </p:cNvPr>
          <p:cNvGraphicFramePr/>
          <p:nvPr/>
        </p:nvGraphicFramePr>
        <p:xfrm>
          <a:off xmlns:a="http://schemas.openxmlformats.org/drawingml/2006/main" x="714375" y="1562100"/>
          <a:ext xmlns:a="http://schemas.openxmlformats.org/drawingml/2006/main" cx="1076325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2571750"/>
                <a:gridCol w="2571750"/>
              </a:tblGrid>
              <a:tr h="530679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Candidate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Mean ASD F1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Mean ROC-AUC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Audio PCA32 LR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0.2057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0.7071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Behavior LR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0.2140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0.6922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RGB PCA32 LR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0.2729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0.7730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Three-branch late fusion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0.2793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0.7915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Three-branch early fusion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0.2920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0.7721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RGB plus behavior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0.3142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0.8070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CDE3D-1727-4B35-9941-32BAED7C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The selected two-branch candidate improved ASD F1 in four of five folds.</a:t>
            </a:r>
          </a:p>
        </p:txBody>
      </p:sp>
    </p:spTree>
    <p:extLst>
      <p:ext uri="{BB962C8B-B14F-4D97-AF65-F5344CB8AC3E}">
        <p14:creationId xmlns:p14="http://schemas.microsoft.com/office/powerpoint/2010/main" val="5271554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F54F2-B126-4918-83D9-CEC48D04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Ablation and simulated missing inputs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8E13E-9E7B-44FE-99E2-3027FAD6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A0398-FF92-4789-BC16-0EE497AC8615}"/>
              </a:ext>
            </a:extLst>
          </p:cNvPr>
          <p:cNvGraphicFramePr/>
          <p:nvPr/>
        </p:nvGraphicFramePr>
        <p:xfrm>
          <a:off xmlns:a="http://schemas.openxmlformats.org/drawingml/2006/main" x="714375" y="1714500"/>
          <a:ext xmlns:a="http://schemas.openxmlformats.org/drawingml/2006/main" cx="1076325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333750"/>
                <a:gridCol w="333375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Branch removed or replaced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Refitted ablation F1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Fixed model imputation F1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None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0.2920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0.2920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Audio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0.3142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0.3037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RGB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0.2585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0.1507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0.2237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0.2042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35C66-8C2B-4B8A-8248-C8D195A7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435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Different experiments: refitting reduced models versus replacing inputs.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652FA-99A9-4034-8AD9-C551EF6D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531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These simulations do not establish reliability with real missing inputs.</a:t>
            </a:r>
          </a:p>
        </p:txBody>
      </p:sp>
    </p:spTree>
    <p:extLst>
      <p:ext uri="{BB962C8B-B14F-4D97-AF65-F5344CB8AC3E}">
        <p14:creationId xmlns:p14="http://schemas.microsoft.com/office/powerpoint/2010/main" val="19053244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E90E9-10B7-4420-A809-FC67D8BC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Selected frozen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53A90-8222-4801-B025-B0CC41B7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B4840-AF0F-459B-8A82-8CFC30A6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573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Inputs: 1,024 pooled I3D RGB features plus 12 human-coded values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FB8F7-3A00-43D2-B55B-06DD9AF0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0507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RGB PCA32 and balanced logistic regression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8EE95-3CED-4AEB-851E-EA29B4FF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528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Fit on 1,510 development recordings with threshold 0.5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FD560-25D5-4B47-BBB8-05E2CDEB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005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Candidate selection used exploratory development comparisons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CFC4C-9AF5-4ACC-BF11-33E8E8A9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The official test had already been inspected for E1</a:t>
            </a:r>
          </a:p>
        </p:txBody>
      </p:sp>
    </p:spTree>
    <p:extLst>
      <p:ext uri="{BB962C8B-B14F-4D97-AF65-F5344CB8AC3E}">
        <p14:creationId xmlns:p14="http://schemas.microsoft.com/office/powerpoint/2010/main" val="12836050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A38C2-E8AF-4413-BA00-359B3B63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Frozen recording-level test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09101-67D1-4D82-9280-F591F25F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9F032-3B20-4634-BEB8-27FFDB922306}"/>
              </a:ext>
            </a:extLst>
          </p:cNvPr>
          <p:cNvGraphicFramePr/>
          <p:nvPr/>
        </p:nvGraphicFramePr>
        <p:xfrm>
          <a:off xmlns:a="http://schemas.openxmlformats.org/drawingml/2006/main" x="714375" y="1543050"/>
          <a:ext xmlns:a="http://schemas.openxmlformats.org/drawingml/2006/main" cx="1076325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477000"/>
                <a:gridCol w="4286250"/>
              </a:tblGrid>
              <a:tr h="46944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RGB plus behavior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46944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ASD F1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0.3571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46944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0.2273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944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0.8333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46944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Balanced accuracy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0.8033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944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ROC-AUC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0.8728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46944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Average precision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0.2608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65ED3-3A33-45F4-B95A-B8909493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01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10 detected positive recordings, 34 false positives and 2 missed positives.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A9BA5-0B6B-4997-9287-30094F2A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9C2F22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9C2F22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9C2F22"/>
                </a:solidFill>
                <a:latin typeface="DejaVu Sans"/>
                <a:ea typeface="DejaVu Sans"/>
                <a:cs typeface="DejaVu Sans"/>
              </a:rPr>
              <a:t>All 12 positive test recordings represent one participant.</a:t>
            </a:r>
          </a:p>
        </p:txBody>
      </p:sp>
    </p:spTree>
    <p:extLst>
      <p:ext uri="{BB962C8B-B14F-4D97-AF65-F5344CB8AC3E}">
        <p14:creationId xmlns:p14="http://schemas.microsoft.com/office/powerpoint/2010/main" val="5725980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D0392-FCC3-462F-AF8F-E2421B61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AV-ASD primary baseline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94E16-A2FC-4E4D-BD53-A9FBE049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20606-27D9-4A58-B3B2-20D23654AB14}"/>
              </a:ext>
            </a:extLst>
          </p:cNvPr>
          <p:cNvGraphicFramePr/>
          <p:nvPr/>
        </p:nvGraphicFramePr>
        <p:xfrm>
          <a:off xmlns:a="http://schemas.openxmlformats.org/drawingml/2006/main" x="714375" y="1619250"/>
          <a:ext xmlns:a="http://schemas.openxmlformats.org/drawingml/2006/main" cx="1076325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2571750"/>
                <a:gridCol w="2571750"/>
              </a:tblGrid>
              <a:tr h="539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Test Macro F1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Test Micro F1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Audio LR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0.2854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0.3432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Visual LR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0.3090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0.3499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Combined LR primary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0.2937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0.3544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Combined random forest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0.2239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0.3348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Late fusion LR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0.3111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24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0.3602</a:t>
                      </a:r>
                    </a:p>
                  </a:txBody>
                  <a:tcPr marL="91440" marR="91440" marT="45720" marB="45720"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B9635-9FE1-4B05-BF56-67665F68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387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Primary status follows validation selection, not the highest test score.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47DE6-4A74-42A7-B454-FEDD3AA4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Original-video separation does not establish participant separation.</a:t>
            </a:r>
          </a:p>
        </p:txBody>
      </p:sp>
    </p:spTree>
    <p:extLst>
      <p:ext uri="{BB962C8B-B14F-4D97-AF65-F5344CB8AC3E}">
        <p14:creationId xmlns:p14="http://schemas.microsoft.com/office/powerpoint/2010/main" val="5124305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E8AA2-7C24-490B-A112-76193558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Explainability and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92811-87F7-4E36-B13C-1E5586C2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F07187-1E9D-4C25-B3C7-B84A8318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573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Exact transformed-feature contributions reconstruct fitted logits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3215E-3893-4D69-9BF2-1946DE4D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0507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Branch sums explain the fitted score without claiming causation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E79C2-1A65-42A4-A29C-225508BF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528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E6 reproduction: 1,510 OOF rows and 30 fold rows match exactly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BAB3BA-FDB2-4121-A762-967D7CE0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005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AV-ASD LR retraining reproduces validation probabilities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CAB68-B688-45D3-896D-DF287F82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Explanations are linear contributions, not SHAP values</a:t>
            </a:r>
          </a:p>
        </p:txBody>
      </p:sp>
    </p:spTree>
    <p:extLst>
      <p:ext uri="{BB962C8B-B14F-4D97-AF65-F5344CB8AC3E}">
        <p14:creationId xmlns:p14="http://schemas.microsoft.com/office/powerpoint/2010/main" val="2148680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45F75-AA53-4CD3-8809-6FE783C9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Dashboard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28A9E9-884C-466F-86C3-D6D40875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10224-CDD7-4446-9E90-CB045CE7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573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Choose Existing test recording demonstration and Recording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9A701-8888-4926-B508-7777DF21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0507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Analyze prepared research features and inspect branch contributions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2F852-7BB1-412F-8AA7-A3A365D5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528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Upload the matching one-row, 1,036-feature CSV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6C98F-60AD-4556-98BD-81CC15A1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005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Both modes show 16.61% and support HTML report download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CF5CE-8AE9-4D5D-AB4F-96096010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Ten input-validation function checks passed on Windows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E969A0-841A-4BC8-A354-F293C3D2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245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9C2F22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9C2F22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9C2F22"/>
                </a:solidFill>
                <a:latin typeface="DejaVu Sans"/>
                <a:ea typeface="DejaVu Sans"/>
                <a:cs typeface="DejaVu Sans"/>
              </a:rPr>
              <a:t>16.61% is an uncalibrated model score. It is not a validated autism risk.</a:t>
            </a:r>
          </a:p>
        </p:txBody>
      </p:sp>
    </p:spTree>
    <p:extLst>
      <p:ext uri="{BB962C8B-B14F-4D97-AF65-F5344CB8AC3E}">
        <p14:creationId xmlns:p14="http://schemas.microsoft.com/office/powerpoint/2010/main" val="21124832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9DED8-69C9-4161-80F0-DAC023AD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72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02A43"/>
                </a:solidFill>
                <a:latin typeface="DejaVu Sans"/>
                <a:ea typeface="DejaVu Sans"/>
                <a:cs typeface="DejaVu Sans"/>
              </a:rPr>
              <a:t>Conclusions and next research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2C946-3E1C-4A0A-A92C-29079C76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27D98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81C0B-AC3B-4820-9632-3DE5517F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573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RGB plus human-coded behavior leads the tested development F1 comparison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0602B-102B-40E2-AFEE-297312D0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0507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Low precision and one positive test participant limit generalization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93009-80DA-42C0-98B0-C22B1F4D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528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The prototype accepts compatible features and exports fitted-score explanations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F48F5-ACBF-4EDA-B6AC-5043AD1F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00525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Independent participant validation and provenance verification remain necessary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FEFBE-2D29-4A5A-A4B2-D891E304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24D"/>
                </a:solidFill>
                <a:latin typeface="DejaVu Sans"/>
                <a:ea typeface="DejaVu Sans"/>
                <a:cs typeface="DejaVu Sans"/>
              </a:rPr>
              <a:t>Raw-media extraction and temporal modeling remain future research</a:t>
            </a:r>
          </a:p>
        </p:txBody>
      </p:sp>
    </p:spTree>
    <p:extLst>
      <p:ext uri="{BB962C8B-B14F-4D97-AF65-F5344CB8AC3E}">
        <p14:creationId xmlns:p14="http://schemas.microsoft.com/office/powerpoint/2010/main" val="910301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2026-10-09T20:20:23.3360000Z</dcterms:created>
  <dcterms:modified xsi:type="dcterms:W3CDTF">2026-10-09T20:20:23.3360000Z</dcterms:modified>
</coreProperties>
</file>